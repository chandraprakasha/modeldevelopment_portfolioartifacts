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Visualizing Neural Networks</a:t>
            </a:r>
            <a:endParaRPr/>
          </a:p>
        </p:txBody>
      </p:sp>
      <p:sp>
        <p:nvSpPr>
          <p:cNvPr id="85" name="Google Shape;85;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US">
                <a:solidFill>
                  <a:srgbClr val="888888"/>
                </a:solidFill>
              </a:rPr>
              <a:t>Portfolio Artifact – Model Development (AIML 501)</a:t>
            </a:r>
            <a:endParaRPr/>
          </a:p>
          <a:p>
            <a:pPr indent="0" lvl="0" marL="0" rtl="0" algn="ctr">
              <a:spcBef>
                <a:spcPts val="640"/>
              </a:spcBef>
              <a:spcAft>
                <a:spcPts val="0"/>
              </a:spcAft>
              <a:buClr>
                <a:srgbClr val="888888"/>
              </a:buClr>
              <a:buSzPts val="3200"/>
              <a:buNone/>
            </a:pPr>
            <a:r>
              <a:rPr lang="en-US">
                <a:solidFill>
                  <a:srgbClr val="888888"/>
                </a:solidFill>
              </a:rPr>
              <a:t>Chandra Prakash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What is a Neural Network?</a:t>
            </a:r>
            <a:endParaRPr/>
          </a:p>
        </p:txBody>
      </p:sp>
      <p:sp>
        <p:nvSpPr>
          <p:cNvPr id="91" name="Google Shape;9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A neural network is a set of connected layers that transform input data step by step.</a:t>
            </a:r>
            <a:endParaRPr/>
          </a:p>
          <a:p>
            <a:pPr indent="-342900" lvl="0" marL="342900" rtl="0" algn="l">
              <a:spcBef>
                <a:spcPts val="400"/>
              </a:spcBef>
              <a:spcAft>
                <a:spcPts val="0"/>
              </a:spcAft>
              <a:buClr>
                <a:schemeClr val="dk1"/>
              </a:buClr>
              <a:buSzPts val="2000"/>
              <a:buChar char="•"/>
            </a:pPr>
            <a:r>
              <a:rPr lang="en-US" sz="2000"/>
              <a:t>Each layer contains neurons that apply weights, add a bias and pass the result through an activation function.</a:t>
            </a:r>
            <a:endParaRPr/>
          </a:p>
          <a:p>
            <a:pPr indent="-342900" lvl="0" marL="342900" rtl="0" algn="l">
              <a:spcBef>
                <a:spcPts val="400"/>
              </a:spcBef>
              <a:spcAft>
                <a:spcPts val="0"/>
              </a:spcAft>
              <a:buClr>
                <a:schemeClr val="dk1"/>
              </a:buClr>
              <a:buSzPts val="2000"/>
              <a:buChar char="•"/>
            </a:pPr>
            <a:r>
              <a:rPr lang="en-US" sz="2000"/>
              <a:t>During training, the network adjusts its weights so that its predictions better match the true targets.</a:t>
            </a:r>
            <a:endParaRPr/>
          </a:p>
          <a:p>
            <a:pPr indent="-342900" lvl="0" marL="342900" rtl="0" algn="l">
              <a:spcBef>
                <a:spcPts val="400"/>
              </a:spcBef>
              <a:spcAft>
                <a:spcPts val="0"/>
              </a:spcAft>
              <a:buClr>
                <a:schemeClr val="dk1"/>
              </a:buClr>
              <a:buSzPts val="2000"/>
              <a:buChar char="•"/>
            </a:pPr>
            <a:r>
              <a:rPr lang="en-US" sz="2000"/>
              <a:t>I picture it as a stack of small math blocks that slowly learn a useful pattern together.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Layers</a:t>
            </a:r>
            <a:endParaRPr/>
          </a:p>
        </p:txBody>
      </p:sp>
      <p:sp>
        <p:nvSpPr>
          <p:cNvPr id="97" name="Google Shape;9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Input layer: receives raw features like pixels, tabular fields, word embeddings.</a:t>
            </a:r>
            <a:endParaRPr/>
          </a:p>
          <a:p>
            <a:pPr indent="-342900" lvl="0" marL="342900" rtl="0" algn="l">
              <a:spcBef>
                <a:spcPts val="400"/>
              </a:spcBef>
              <a:spcAft>
                <a:spcPts val="0"/>
              </a:spcAft>
              <a:buClr>
                <a:schemeClr val="dk1"/>
              </a:buClr>
              <a:buSzPts val="2000"/>
              <a:buChar char="•"/>
            </a:pPr>
            <a:r>
              <a:rPr lang="en-US" sz="2000"/>
              <a:t>Hidden layers: perform most of the learning by repeatedly combining and transforming signals.</a:t>
            </a:r>
            <a:endParaRPr/>
          </a:p>
          <a:p>
            <a:pPr indent="-342900" lvl="0" marL="342900" rtl="0" algn="l">
              <a:spcBef>
                <a:spcPts val="400"/>
              </a:spcBef>
              <a:spcAft>
                <a:spcPts val="0"/>
              </a:spcAft>
              <a:buClr>
                <a:schemeClr val="dk1"/>
              </a:buClr>
              <a:buSzPts val="2000"/>
              <a:buChar char="•"/>
            </a:pPr>
            <a:r>
              <a:rPr lang="en-US" sz="2000"/>
              <a:t>Output layer: produces the final prediction such as a class score or the numeric value.</a:t>
            </a:r>
            <a:endParaRPr/>
          </a:p>
          <a:p>
            <a:pPr indent="-342900" lvl="0" marL="342900" rtl="0" algn="l">
              <a:spcBef>
                <a:spcPts val="400"/>
              </a:spcBef>
              <a:spcAft>
                <a:spcPts val="0"/>
              </a:spcAft>
              <a:buClr>
                <a:schemeClr val="dk1"/>
              </a:buClr>
              <a:buSzPts val="2000"/>
              <a:buChar char="•"/>
            </a:pPr>
            <a:r>
              <a:rPr lang="en-US" sz="2000"/>
              <a:t>When I added more hidden layers in Neural Network Playground, the model learned more complex decision boundaries.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Neurons</a:t>
            </a:r>
            <a:endParaRPr/>
          </a:p>
        </p:txBody>
      </p:sp>
      <p:sp>
        <p:nvSpPr>
          <p:cNvPr id="103" name="Google Shape;10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A neuron takes several inputs, multiplies each by a weight, adds a bias and applies an activation function.</a:t>
            </a:r>
            <a:endParaRPr/>
          </a:p>
          <a:p>
            <a:pPr indent="-342900" lvl="0" marL="342900" rtl="0" algn="l">
              <a:spcBef>
                <a:spcPts val="400"/>
              </a:spcBef>
              <a:spcAft>
                <a:spcPts val="0"/>
              </a:spcAft>
              <a:buClr>
                <a:schemeClr val="dk1"/>
              </a:buClr>
              <a:buSzPts val="2000"/>
              <a:buChar char="•"/>
            </a:pPr>
            <a:r>
              <a:rPr lang="en-US" sz="2000"/>
              <a:t>Neurons are arranged in rows inside each layer, every neuron learns a slightly different feature.</a:t>
            </a:r>
            <a:endParaRPr/>
          </a:p>
          <a:p>
            <a:pPr indent="-342900" lvl="0" marL="342900" rtl="0" algn="l">
              <a:spcBef>
                <a:spcPts val="400"/>
              </a:spcBef>
              <a:spcAft>
                <a:spcPts val="0"/>
              </a:spcAft>
              <a:buClr>
                <a:schemeClr val="dk1"/>
              </a:buClr>
              <a:buSzPts val="2000"/>
              <a:buChar char="•"/>
            </a:pPr>
            <a:r>
              <a:rPr lang="en-US" sz="2000"/>
              <a:t>In the Playground, I saw individual neurons specialize in simple patterns like diagonal or curved splits in the data.</a:t>
            </a:r>
            <a:endParaRPr/>
          </a:p>
          <a:p>
            <a:pPr indent="-342900" lvl="0" marL="342900" rtl="0" algn="l">
              <a:spcBef>
                <a:spcPts val="400"/>
              </a:spcBef>
              <a:spcAft>
                <a:spcPts val="0"/>
              </a:spcAft>
              <a:buClr>
                <a:schemeClr val="dk1"/>
              </a:buClr>
              <a:buSzPts val="2000"/>
              <a:buChar char="•"/>
            </a:pPr>
            <a:r>
              <a:rPr lang="en-US" sz="2000"/>
              <a:t>Together, many neurons form a rich representation that a single rule could never capture.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Weights and Biases</a:t>
            </a:r>
            <a:endParaRPr/>
          </a:p>
        </p:txBody>
      </p:sp>
      <p:sp>
        <p:nvSpPr>
          <p:cNvPr id="109" name="Google Shape;109;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Weights control how strongly one neuron influences another, biases shift the activation threshold.</a:t>
            </a:r>
            <a:endParaRPr/>
          </a:p>
          <a:p>
            <a:pPr indent="-342900" lvl="0" marL="342900" rtl="0" algn="l">
              <a:spcBef>
                <a:spcPts val="400"/>
              </a:spcBef>
              <a:spcAft>
                <a:spcPts val="0"/>
              </a:spcAft>
              <a:buClr>
                <a:schemeClr val="dk1"/>
              </a:buClr>
              <a:buSzPts val="2000"/>
              <a:buChar char="•"/>
            </a:pPr>
            <a:r>
              <a:rPr lang="en-US" sz="2000"/>
              <a:t>At the start of training, weights are usually random, so predictions look noisy and unstable.</a:t>
            </a:r>
            <a:endParaRPr/>
          </a:p>
          <a:p>
            <a:pPr indent="-342900" lvl="0" marL="342900" rtl="0" algn="l">
              <a:spcBef>
                <a:spcPts val="400"/>
              </a:spcBef>
              <a:spcAft>
                <a:spcPts val="0"/>
              </a:spcAft>
              <a:buClr>
                <a:schemeClr val="dk1"/>
              </a:buClr>
              <a:buSzPts val="2000"/>
              <a:buChar char="•"/>
            </a:pPr>
            <a:r>
              <a:rPr lang="en-US" sz="2000"/>
              <a:t>As training progresses, optimization algorithms nudge the weights so that useful patterns are reinforced.</a:t>
            </a:r>
            <a:endParaRPr/>
          </a:p>
          <a:p>
            <a:pPr indent="-342900" lvl="0" marL="342900" rtl="0" algn="l">
              <a:spcBef>
                <a:spcPts val="400"/>
              </a:spcBef>
              <a:spcAft>
                <a:spcPts val="0"/>
              </a:spcAft>
              <a:buClr>
                <a:schemeClr val="dk1"/>
              </a:buClr>
              <a:buSzPts val="2000"/>
              <a:buChar char="•"/>
            </a:pPr>
            <a:r>
              <a:rPr lang="en-US" sz="2000"/>
              <a:t>I think of weights as adjustable dials that slowly tune the network toward better performance.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Activation Functions</a:t>
            </a:r>
            <a:endParaRPr/>
          </a:p>
        </p:txBody>
      </p:sp>
      <p:sp>
        <p:nvSpPr>
          <p:cNvPr id="115" name="Google Shape;115;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Activation functions introduce non‑linearity, allowing networks to learn curved and layered decision boundaries.</a:t>
            </a:r>
            <a:endParaRPr/>
          </a:p>
          <a:p>
            <a:pPr indent="-342900" lvl="0" marL="342900" rtl="0" algn="l">
              <a:spcBef>
                <a:spcPts val="400"/>
              </a:spcBef>
              <a:spcAft>
                <a:spcPts val="0"/>
              </a:spcAft>
              <a:buClr>
                <a:schemeClr val="dk1"/>
              </a:buClr>
              <a:buSzPts val="2000"/>
              <a:buChar char="•"/>
            </a:pPr>
            <a:r>
              <a:rPr lang="en-US" sz="2000"/>
              <a:t>Common choices: ReLU for deep vision models, sigmoid for probabilities, and tanh for centered outputs.</a:t>
            </a:r>
            <a:endParaRPr/>
          </a:p>
          <a:p>
            <a:pPr indent="-342900" lvl="0" marL="342900" rtl="0" algn="l">
              <a:spcBef>
                <a:spcPts val="400"/>
              </a:spcBef>
              <a:spcAft>
                <a:spcPts val="0"/>
              </a:spcAft>
              <a:buClr>
                <a:schemeClr val="dk1"/>
              </a:buClr>
              <a:buSzPts val="2000"/>
              <a:buChar char="•"/>
            </a:pPr>
            <a:r>
              <a:rPr lang="en-US" sz="2000"/>
              <a:t>In the Playground, switching from a linear activation to ReLU immediately made the model more expressive.</a:t>
            </a:r>
            <a:endParaRPr/>
          </a:p>
          <a:p>
            <a:pPr indent="-342900" lvl="0" marL="342900" rtl="0" algn="l">
              <a:spcBef>
                <a:spcPts val="400"/>
              </a:spcBef>
              <a:spcAft>
                <a:spcPts val="0"/>
              </a:spcAft>
              <a:buClr>
                <a:schemeClr val="dk1"/>
              </a:buClr>
              <a:buSzPts val="2000"/>
              <a:buChar char="•"/>
            </a:pPr>
            <a:r>
              <a:rPr lang="en-US" sz="2000"/>
              <a:t>Without activations, stacked layers would collapse into a single linear transformation.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Loss Functions</a:t>
            </a:r>
            <a:endParaRPr/>
          </a:p>
        </p:txBody>
      </p:sp>
      <p:sp>
        <p:nvSpPr>
          <p:cNvPr id="121" name="Google Shape;121;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The loss function measures the gap between the network’s predictions and the true labels.</a:t>
            </a:r>
            <a:endParaRPr/>
          </a:p>
          <a:p>
            <a:pPr indent="-342900" lvl="0" marL="342900" rtl="0" algn="l">
              <a:spcBef>
                <a:spcPts val="400"/>
              </a:spcBef>
              <a:spcAft>
                <a:spcPts val="0"/>
              </a:spcAft>
              <a:buClr>
                <a:schemeClr val="dk1"/>
              </a:buClr>
              <a:buSzPts val="2000"/>
              <a:buChar char="•"/>
            </a:pPr>
            <a:r>
              <a:rPr lang="en-US" sz="2000"/>
              <a:t>Mean Squared Error is typical for regression; cross‑entropy is common for classification problems.</a:t>
            </a:r>
            <a:endParaRPr/>
          </a:p>
          <a:p>
            <a:pPr indent="-342900" lvl="0" marL="342900" rtl="0" algn="l">
              <a:spcBef>
                <a:spcPts val="400"/>
              </a:spcBef>
              <a:spcAft>
                <a:spcPts val="0"/>
              </a:spcAft>
              <a:buClr>
                <a:schemeClr val="dk1"/>
              </a:buClr>
              <a:buSzPts val="2000"/>
              <a:buChar char="•"/>
            </a:pPr>
            <a:r>
              <a:rPr lang="en-US" sz="2000"/>
              <a:t>Lower loss means the network is doing a better job on the training examples.</a:t>
            </a:r>
            <a:endParaRPr/>
          </a:p>
          <a:p>
            <a:pPr indent="-342900" lvl="0" marL="342900" rtl="0" algn="l">
              <a:spcBef>
                <a:spcPts val="400"/>
              </a:spcBef>
              <a:spcAft>
                <a:spcPts val="0"/>
              </a:spcAft>
              <a:buClr>
                <a:schemeClr val="dk1"/>
              </a:buClr>
              <a:buSzPts val="2000"/>
              <a:buChar char="•"/>
            </a:pPr>
            <a:r>
              <a:rPr lang="en-US" sz="2000"/>
              <a:t>Watching the loss curve drop in the Playground helped me see training as guided trial and error.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Optimization Algorithms</a:t>
            </a:r>
            <a:endParaRPr/>
          </a:p>
        </p:txBody>
      </p:sp>
      <p:sp>
        <p:nvSpPr>
          <p:cNvPr id="127" name="Google Shape;127;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Optimization algorithms update weights to reduce the loss, usually by following the gradient.</a:t>
            </a:r>
            <a:endParaRPr/>
          </a:p>
          <a:p>
            <a:pPr indent="-342900" lvl="0" marL="342900" rtl="0" algn="l">
              <a:spcBef>
                <a:spcPts val="400"/>
              </a:spcBef>
              <a:spcAft>
                <a:spcPts val="0"/>
              </a:spcAft>
              <a:buClr>
                <a:schemeClr val="dk1"/>
              </a:buClr>
              <a:buSzPts val="2000"/>
              <a:buChar char="•"/>
            </a:pPr>
            <a:r>
              <a:rPr lang="en-US" sz="2000"/>
              <a:t>Stochastic Gradient Descent (SGD) takes small steps using mini‑batches of data.</a:t>
            </a:r>
            <a:endParaRPr/>
          </a:p>
          <a:p>
            <a:pPr indent="-342900" lvl="0" marL="342900" rtl="0" algn="l">
              <a:spcBef>
                <a:spcPts val="400"/>
              </a:spcBef>
              <a:spcAft>
                <a:spcPts val="0"/>
              </a:spcAft>
              <a:buClr>
                <a:schemeClr val="dk1"/>
              </a:buClr>
              <a:buSzPts val="2000"/>
              <a:buChar char="•"/>
            </a:pPr>
            <a:r>
              <a:rPr lang="en-US" sz="2000"/>
              <a:t>Adam adds adaptive learning rates and momentum so training is more stable and often faster.</a:t>
            </a:r>
            <a:endParaRPr/>
          </a:p>
          <a:p>
            <a:pPr indent="-342900" lvl="0" marL="342900" rtl="0" algn="l">
              <a:spcBef>
                <a:spcPts val="400"/>
              </a:spcBef>
              <a:spcAft>
                <a:spcPts val="0"/>
              </a:spcAft>
              <a:buClr>
                <a:schemeClr val="dk1"/>
              </a:buClr>
              <a:buSzPts val="2000"/>
              <a:buChar char="•"/>
            </a:pPr>
            <a:r>
              <a:rPr lang="en-US" sz="2000"/>
              <a:t>Tuning the learning rate slider in the Playground showed me how too large a step can cause the model to diverge.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Neural Network Architecture – Big Picture</a:t>
            </a:r>
            <a:endParaRPr/>
          </a:p>
        </p:txBody>
      </p:sp>
      <p:sp>
        <p:nvSpPr>
          <p:cNvPr id="133" name="Google Shape;13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sz="3200">
              <a:solidFill>
                <a:schemeClr val="dk1"/>
              </a:solidFill>
              <a:latin typeface="Calibri"/>
              <a:ea typeface="Calibri"/>
              <a:cs typeface="Calibri"/>
              <a:sym typeface="Calibri"/>
            </a:endParaRPr>
          </a:p>
          <a:p>
            <a:pPr indent="-342900" lvl="0" marL="342900" rtl="0" algn="l">
              <a:spcBef>
                <a:spcPts val="360"/>
              </a:spcBef>
              <a:spcAft>
                <a:spcPts val="0"/>
              </a:spcAft>
              <a:buClr>
                <a:schemeClr val="dk1"/>
              </a:buClr>
              <a:buSzPts val="1800"/>
              <a:buChar char="•"/>
            </a:pPr>
            <a:r>
              <a:rPr lang="en-US" sz="1800"/>
              <a:t>Data flows from left to right: input layer → hidden layers → output layer.</a:t>
            </a:r>
            <a:endParaRPr/>
          </a:p>
          <a:p>
            <a:pPr indent="-342900" lvl="0" marL="342900" rtl="0" algn="l">
              <a:spcBef>
                <a:spcPts val="360"/>
              </a:spcBef>
              <a:spcAft>
                <a:spcPts val="0"/>
              </a:spcAft>
              <a:buClr>
                <a:schemeClr val="dk1"/>
              </a:buClr>
              <a:buSzPts val="1800"/>
              <a:buChar char="•"/>
            </a:pPr>
            <a:r>
              <a:rPr lang="en-US" sz="1800"/>
              <a:t>Each connection has a weight, each neuron applies an activation function.</a:t>
            </a:r>
            <a:endParaRPr/>
          </a:p>
          <a:p>
            <a:pPr indent="-342900" lvl="0" marL="342900" rtl="0" algn="l">
              <a:spcBef>
                <a:spcPts val="360"/>
              </a:spcBef>
              <a:spcAft>
                <a:spcPts val="0"/>
              </a:spcAft>
              <a:buClr>
                <a:schemeClr val="dk1"/>
              </a:buClr>
              <a:buSzPts val="1800"/>
              <a:buChar char="•"/>
            </a:pPr>
            <a:r>
              <a:rPr lang="en-US" sz="1800"/>
              <a:t>During training, backpropagation moves error information from the output back through the network.</a:t>
            </a:r>
            <a:endParaRPr/>
          </a:p>
          <a:p>
            <a:pPr indent="-342900" lvl="0" marL="342900" rtl="0" algn="l">
              <a:spcBef>
                <a:spcPts val="360"/>
              </a:spcBef>
              <a:spcAft>
                <a:spcPts val="0"/>
              </a:spcAft>
              <a:buClr>
                <a:schemeClr val="dk1"/>
              </a:buClr>
              <a:buSzPts val="1800"/>
              <a:buChar char="•"/>
            </a:pPr>
            <a:r>
              <a:rPr lang="en-US" sz="1800"/>
              <a:t>This slide reminds me of the diagrams I sketched while experimenting in the Neural Network Playground.</a:t>
            </a:r>
            <a:endParaRPr/>
          </a:p>
        </p:txBody>
      </p:sp>
      <p:sp>
        <p:nvSpPr>
          <p:cNvPr id="134" name="Google Shape;134;p21"/>
          <p:cNvSpPr/>
          <p:nvPr/>
        </p:nvSpPr>
        <p:spPr>
          <a:xfrm>
            <a:off x="698080" y="4480188"/>
            <a:ext cx="1097400" cy="1645800"/>
          </a:xfrm>
          <a:prstGeom prst="roundRect">
            <a:avLst>
              <a:gd fmla="val 16667" name="adj"/>
            </a:avLst>
          </a:prstGeom>
          <a:solidFill>
            <a:srgbClr val="C6E0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800" u="none" cap="none" strike="noStrike">
                <a:solidFill>
                  <a:schemeClr val="lt1"/>
                </a:solidFill>
                <a:latin typeface="Calibri"/>
                <a:ea typeface="Calibri"/>
                <a:cs typeface="Calibri"/>
                <a:sym typeface="Calibri"/>
              </a:rPr>
              <a:t>Input</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Layer</a:t>
            </a:r>
            <a:endParaRPr/>
          </a:p>
        </p:txBody>
      </p:sp>
      <p:sp>
        <p:nvSpPr>
          <p:cNvPr id="135" name="Google Shape;135;p21"/>
          <p:cNvSpPr/>
          <p:nvPr/>
        </p:nvSpPr>
        <p:spPr>
          <a:xfrm>
            <a:off x="2310660" y="4480188"/>
            <a:ext cx="1097400" cy="1645800"/>
          </a:xfrm>
          <a:prstGeom prst="roundRect">
            <a:avLst>
              <a:gd fmla="val 16667" name="adj"/>
            </a:avLst>
          </a:prstGeom>
          <a:solidFill>
            <a:srgbClr val="E2EFDA"/>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Hidden</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Layer 1</a:t>
            </a:r>
            <a:endParaRPr/>
          </a:p>
        </p:txBody>
      </p:sp>
      <p:sp>
        <p:nvSpPr>
          <p:cNvPr id="136" name="Google Shape;136;p21"/>
          <p:cNvSpPr/>
          <p:nvPr/>
        </p:nvSpPr>
        <p:spPr>
          <a:xfrm>
            <a:off x="3865065" y="4480250"/>
            <a:ext cx="1097400" cy="1645800"/>
          </a:xfrm>
          <a:prstGeom prst="roundRect">
            <a:avLst>
              <a:gd fmla="val 16667" name="adj"/>
            </a:avLst>
          </a:prstGeom>
          <a:solidFill>
            <a:srgbClr val="E2EFDA"/>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Hidden</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Layer 2</a:t>
            </a:r>
            <a:endParaRPr/>
          </a:p>
        </p:txBody>
      </p:sp>
      <p:sp>
        <p:nvSpPr>
          <p:cNvPr id="137" name="Google Shape;137;p21"/>
          <p:cNvSpPr/>
          <p:nvPr/>
        </p:nvSpPr>
        <p:spPr>
          <a:xfrm>
            <a:off x="5419495" y="4480250"/>
            <a:ext cx="1097400" cy="1645800"/>
          </a:xfrm>
          <a:prstGeom prst="roundRect">
            <a:avLst>
              <a:gd fmla="val 16667" name="adj"/>
            </a:avLst>
          </a:prstGeom>
          <a:solidFill>
            <a:srgbClr val="FFF2CC"/>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Output</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Layer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Experiments in Neural Network Playground</a:t>
            </a:r>
            <a:endParaRPr/>
          </a:p>
        </p:txBody>
      </p:sp>
      <p:sp>
        <p:nvSpPr>
          <p:cNvPr id="143" name="Google Shape;14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t>I started with a simple dataset and one hidden layer; the model learned only basic straight‑line splits.</a:t>
            </a:r>
            <a:endParaRPr/>
          </a:p>
          <a:p>
            <a:pPr indent="-342900" lvl="0" marL="342900" rtl="0" algn="l">
              <a:spcBef>
                <a:spcPts val="400"/>
              </a:spcBef>
              <a:spcAft>
                <a:spcPts val="0"/>
              </a:spcAft>
              <a:buClr>
                <a:schemeClr val="dk1"/>
              </a:buClr>
              <a:buSzPts val="2000"/>
              <a:buChar char="•"/>
            </a:pPr>
            <a:r>
              <a:rPr lang="en-US" sz="2000"/>
              <a:t>Adding more neurons and a second hidden layer created more flexible curves that fit the spirals and circles.</a:t>
            </a:r>
            <a:endParaRPr/>
          </a:p>
          <a:p>
            <a:pPr indent="-342900" lvl="0" marL="342900" rtl="0" algn="l">
              <a:spcBef>
                <a:spcPts val="400"/>
              </a:spcBef>
              <a:spcAft>
                <a:spcPts val="0"/>
              </a:spcAft>
              <a:buClr>
                <a:schemeClr val="dk1"/>
              </a:buClr>
              <a:buSzPts val="2000"/>
              <a:buChar char="•"/>
            </a:pPr>
            <a:r>
              <a:rPr lang="en-US" sz="2000"/>
              <a:t>Increasing noise in the data made me appreciate the trade‑off between underfitting and overfitting.</a:t>
            </a:r>
            <a:endParaRPr/>
          </a:p>
          <a:p>
            <a:pPr indent="-342900" lvl="0" marL="342900" rtl="0" algn="l">
              <a:spcBef>
                <a:spcPts val="400"/>
              </a:spcBef>
              <a:spcAft>
                <a:spcPts val="0"/>
              </a:spcAft>
              <a:buClr>
                <a:schemeClr val="dk1"/>
              </a:buClr>
              <a:buSzPts val="2000"/>
              <a:buChar char="•"/>
            </a:pPr>
            <a:r>
              <a:rPr lang="en-US" sz="2000"/>
              <a:t>Adjusting learning rate and regularization helped me see how optimization and constraints shape the final model.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Summary and Reflection</a:t>
            </a:r>
            <a:endParaRPr/>
          </a:p>
        </p:txBody>
      </p:sp>
      <p:sp>
        <p:nvSpPr>
          <p:cNvPr id="149" name="Google Shape;149;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b="1" sz="1800"/>
          </a:p>
          <a:p>
            <a:pPr indent="-342900" lvl="0" marL="342900" rtl="0" algn="just">
              <a:lnSpc>
                <a:spcPct val="115000"/>
              </a:lnSpc>
              <a:spcBef>
                <a:spcPts val="0"/>
              </a:spcBef>
              <a:spcAft>
                <a:spcPts val="0"/>
              </a:spcAft>
              <a:buSzPts val="1800"/>
              <a:buFont typeface="Calibri"/>
              <a:buChar char="•"/>
            </a:pPr>
            <a:r>
              <a:rPr lang="en-US" sz="1800"/>
              <a:t>Building a visual framework of the layers, neurons, activations and loss made me think about what is actually happening to the data at each step. The Neural Network Playground helped a lot, seeing decision boundaries change when I added neurons, layers, noise made concepts like overfitting and non-linearity feel concrete instead of abstract.</a:t>
            </a:r>
            <a:endParaRPr sz="1800"/>
          </a:p>
          <a:p>
            <a:pPr indent="-342900" lvl="0" marL="342900" rtl="0" algn="just">
              <a:lnSpc>
                <a:spcPct val="115000"/>
              </a:lnSpc>
              <a:spcBef>
                <a:spcPts val="0"/>
              </a:spcBef>
              <a:spcAft>
                <a:spcPts val="0"/>
              </a:spcAft>
              <a:buSzPts val="1800"/>
              <a:buFont typeface="Calibri"/>
              <a:buChar char="•"/>
            </a:pPr>
            <a:r>
              <a:rPr lang="en-US" sz="1800"/>
              <a:t>Connecting this to my own experience, I realized how often I rely on these mental pictures when something goes wrong in a pipeline. If the loss is flat, I now instinctively ask, Is the learning rate too high? Are activations appropriate? and Is the network too shallow for the pattern? This artifact also reminded me that good communication is part of the model development. Visuals like these will help me explain deep learning decisions to my teammates who are less comfortable with the math but still need to trust the model.</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